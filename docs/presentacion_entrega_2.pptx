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48640"/>
            <a:ext cx="10817352" cy="4114800"/>
          </a:xfrm>
          <a:prstGeom prst="rect">
            <a:avLst/>
          </a:prstGeom>
          <a:solidFill>
            <a:srgbClr val="14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48640"/>
            <a:ext cx="108173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💊  Consultorio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FD7ED"/>
                </a:solidFill>
              </a:rPr>
              <a:t>Sistema de Gestión de Horas Médicas — Salud Primaria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514600"/>
            <a:ext cx="576072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DC3E6"/>
                </a:solidFill>
              </a:rPr>
              <a:t>Evaluación 2 — Cascada: UCP · Cronograma · Riesgos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91840"/>
            <a:ext cx="20574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91840"/>
            <a:ext cx="20574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Alejandro Dinamarca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221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7ED"/>
                </a:solidFill>
              </a:rPr>
              <a:t>Jefe de Proyecto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0088" y="3291840"/>
            <a:ext cx="20574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0088" y="3291840"/>
            <a:ext cx="20574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33649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Alexandra Carrasco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8221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7ED"/>
                </a:solidFill>
              </a:rPr>
              <a:t>Analista / 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7216" y="3291840"/>
            <a:ext cx="20574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7216" y="3291840"/>
            <a:ext cx="20574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33649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Ricardo Silva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8221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7ED"/>
                </a:solidFill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4" y="3291840"/>
            <a:ext cx="20574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4" y="3291840"/>
            <a:ext cx="20574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4" y="33649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Lucas Rojas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38221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7ED"/>
                </a:solidFill>
              </a:rPr>
              <a:t>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91472" y="3291840"/>
            <a:ext cx="20574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91472" y="3291840"/>
            <a:ext cx="20574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7192" y="33649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Allan Gálvez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3822191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7ED"/>
                </a:solidFill>
              </a:rPr>
              <a:t>DevOps / 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72000"/>
            <a:ext cx="10817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DC3E6"/>
                </a:solidFill>
              </a:rPr>
              <a:t>ICI-513 Gestión de Proyectos Informáticos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8348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090B0"/>
                </a:solidFill>
              </a:rPr>
              <a:t>Ingeniería Civil en Informática · Universidad de Valparaíso · Mayo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Estimación Use Case Points (UCP)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</a:rPr>
              <a:t>Método de estimación basado en actores, casos de uso y factores de ajuste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7ED"/>
                </a:solidFill>
              </a:rPr>
              <a:t>ICI-513 Gestión de Proyectos Informáticos · Universidad de Valparaíso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2 /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5661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ACTORES  (AW = 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10512"/>
            <a:ext cx="146304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810512"/>
            <a:ext cx="86868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810512"/>
            <a:ext cx="502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10512"/>
            <a:ext cx="16002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Paciente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13055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130552"/>
            <a:ext cx="502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130552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GUI — reserva y gestión de horas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41448"/>
            <a:ext cx="14630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Personal de Salud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2441448"/>
            <a:ext cx="86868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441448"/>
            <a:ext cx="50292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441448"/>
            <a:ext cx="160020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GUI — agenda y atenciones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52344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Administrador Sistema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75234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752344"/>
            <a:ext cx="502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752344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GUI — panel administrativo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63240"/>
            <a:ext cx="14630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Consultorio 1..N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3063240"/>
            <a:ext cx="86868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Promedio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063240"/>
            <a:ext cx="50292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063240"/>
            <a:ext cx="160020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Interfaz flexible de disponibilidad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74136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Sistema /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337413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Simple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3374136"/>
            <a:ext cx="502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3374136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Endpoints REST internos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85032"/>
            <a:ext cx="14630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Base de Datos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3685032"/>
            <a:ext cx="86868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Simple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3685032"/>
            <a:ext cx="50292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685032"/>
            <a:ext cx="160020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ORM Django — interfaz definida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1463040"/>
            <a:ext cx="46634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1490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CASOS DE USO  (UUCP = 165)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1810512"/>
            <a:ext cx="306324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Caso de Uso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1810512"/>
            <a:ext cx="100584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810512"/>
            <a:ext cx="54864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2130552"/>
            <a:ext cx="3063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UC01.1 Reservar Cita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213055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2130552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2441448"/>
            <a:ext cx="30632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UC01.2 Confirmar/Cancelar Cita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441448"/>
            <a:ext cx="10058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Promedio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2441448"/>
            <a:ext cx="5486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2752344"/>
            <a:ext cx="3063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UC01.5 Agendar Disponibilidad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275234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2752344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60520" y="3063240"/>
            <a:ext cx="30632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UC03.1 Buscar Centro Asistencial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3063240"/>
            <a:ext cx="10058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Promedio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3063240"/>
            <a:ext cx="5486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3374136"/>
            <a:ext cx="3063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UC05.1 Iniciar Sesión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337413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Promedio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374136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3685032"/>
            <a:ext cx="30632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UC05.3 Registrar Cuenta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3685032"/>
            <a:ext cx="10058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685032"/>
            <a:ext cx="5486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3995928"/>
            <a:ext cx="3063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UC06.2 Gestionar Centros y Citas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399592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Complejo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3995928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60520" y="4306824"/>
            <a:ext cx="30632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UC07  Configuración del Sistema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23760" y="4306824"/>
            <a:ext cx="10058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Promedio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306824"/>
            <a:ext cx="548640" cy="310896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60520" y="4617720"/>
            <a:ext cx="3063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>
                <a:solidFill>
                  <a:srgbClr val="404040"/>
                </a:solidFill>
              </a:rPr>
              <a:t>… +9 casos de uso adicionales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461772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4617720"/>
            <a:ext cx="548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404040"/>
                </a:solidFill>
              </a:rPr>
              <a:t>65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1463040"/>
            <a:ext cx="28346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98280" y="14904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FACTORES DE AJUSTE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1810512"/>
            <a:ext cx="28346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182880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Factor Técnico (TCF = 0.96)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084831"/>
            <a:ext cx="2834640" cy="594360"/>
          </a:xfrm>
          <a:prstGeom prst="rect">
            <a:avLst/>
          </a:prstGeom>
          <a:solidFill>
            <a:srgbClr val="DEEAF1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9828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T11 Seguridad personalizada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64240" y="2103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4/5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98280" y="234086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JWT + RBAC + Ley 19.628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52560" y="2724911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98280" y="27431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T3  Eficiencia usuario final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64240" y="274319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4/5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8280" y="2980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Acceso adultos mayores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3364991"/>
            <a:ext cx="2834640" cy="594360"/>
          </a:xfrm>
          <a:prstGeom prst="rect">
            <a:avLst/>
          </a:prstGeom>
          <a:solidFill>
            <a:srgbClr val="DEEAF1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98280" y="33832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T1  Sistema distribuido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64240" y="33832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1/5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98280" y="36210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Django monolítico; sin microservicios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4005072"/>
            <a:ext cx="2834640" cy="274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98280" y="4023359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Factor Ambiental (EF = 1.275)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52560" y="4279392"/>
            <a:ext cx="2834640" cy="548640"/>
          </a:xfrm>
          <a:prstGeom prst="rect">
            <a:avLst/>
          </a:prstGeom>
          <a:solidFill>
            <a:srgbClr val="E2F0D9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98280" y="429767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E5  Motivación del equipo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64240" y="42976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AD47"/>
                </a:solidFill>
              </a:rPr>
              <a:t>4/5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98280" y="452627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Proyecto real en salud pública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52560" y="4873752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98280" y="4892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</a:rPr>
              <a:t>E7  Personal part-time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64240" y="48920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AD47"/>
                </a:solidFill>
              </a:rPr>
              <a:t>3/5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98280" y="5120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Estudiantes con carga académica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029200"/>
            <a:ext cx="850392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74320" y="5029200"/>
            <a:ext cx="54864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RESULTADO FINAL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2920" y="5394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UCP = (UUCP + AW) × TCF × EF = (165 + 13) × 0.96 × 1.275 = 217,87 puntos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57790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7ED"/>
                </a:solidFill>
              </a:rPr>
              <a:t>Horas estimadas de esfuerzo = 217,87 × 8 h/UCP = 1.743 horas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5029200"/>
            <a:ext cx="2926080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6840" y="5047488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217.87
UCP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Cronograma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</a:rPr>
              <a:t>Fecha base: 10-03-2026 · Metodología Cascada · 8 fases · 4 hitos · 576 horas totales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7ED"/>
                </a:solidFill>
              </a:rPr>
              <a:t>ICI-513 Gestión de Proyectos Informáticos · Universidad de Valparaíso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3 /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161288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ACTIVIDADES Y HITOS REPRESENTATIVOS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10512"/>
            <a:ext cx="731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N° EDT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810512"/>
            <a:ext cx="34747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Nombre de Tarea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10512"/>
            <a:ext cx="20116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Responsable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10512"/>
            <a:ext cx="11887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Dependencia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10512"/>
            <a:ext cx="11887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Inicio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810512"/>
            <a:ext cx="11887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Término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810512"/>
            <a:ext cx="12801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Duración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57984"/>
            <a:ext cx="7315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157984"/>
            <a:ext cx="3474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INICIO / PLANIFICACIÓN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157984"/>
            <a:ext cx="201168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157984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157984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10-03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157984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22-03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157984"/>
            <a:ext cx="128016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24 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96312"/>
            <a:ext cx="7315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2496312"/>
            <a:ext cx="3474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Estudio de Factibilidad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496312"/>
            <a:ext cx="201168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Alejandro Dinamarca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496312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496312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10-03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2496312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13-03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2496312"/>
            <a:ext cx="128016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8 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34640"/>
            <a:ext cx="731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2834640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Planificación del Proyecto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834640"/>
            <a:ext cx="2011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Ricardo Silva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834640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834640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18-03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2834640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22-03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2834640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8 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172968"/>
            <a:ext cx="7315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2.3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3172968"/>
            <a:ext cx="3474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Análisis Reqs. Completado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3172968"/>
            <a:ext cx="201168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Alejandro Dinamarca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17296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2.2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317296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06-04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317296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06-04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0" y="3172968"/>
            <a:ext cx="128016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 h — HITO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511296"/>
            <a:ext cx="7315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3511296"/>
            <a:ext cx="3474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DESARROLLO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511296"/>
            <a:ext cx="201168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511296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3511296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10-04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3511296"/>
            <a:ext cx="118872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04-05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3511296"/>
            <a:ext cx="1280160" cy="338328"/>
          </a:xfrm>
          <a:prstGeom prst="rect">
            <a:avLst/>
          </a:prstGeom>
          <a:solidFill>
            <a:srgbClr val="2E75B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88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849624"/>
            <a:ext cx="7315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4.6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849624"/>
            <a:ext cx="3474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Desarrollo Backend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80560" y="3849624"/>
            <a:ext cx="201168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Ricardo Silva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849624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4.5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3849624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28-04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3849624"/>
            <a:ext cx="118872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01-05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0" y="3849624"/>
            <a:ext cx="1280160" cy="338328"/>
          </a:xfrm>
          <a:prstGeom prst="rect">
            <a:avLst/>
          </a:prstGeom>
          <a:solidFill>
            <a:srgbClr val="F0F5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24 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187952"/>
            <a:ext cx="731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4.7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5840" y="4187952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Integración Frontend-Backend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0" y="4187952"/>
            <a:ext cx="2011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404040"/>
                </a:solidFill>
              </a:rPr>
              <a:t>Lucas Rojas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4187952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4.6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4187952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02-05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4187952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03-05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4187952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404040"/>
                </a:solidFill>
              </a:rPr>
              <a:t>8 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526280"/>
            <a:ext cx="7315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3.5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5840" y="4526280"/>
            <a:ext cx="3474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Diseño Completado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4526280"/>
            <a:ext cx="201168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Alejandro Dinamarca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4526280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3.4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4526280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09-04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9680" y="4526280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09-04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58400" y="4526280"/>
            <a:ext cx="128016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 h — HITO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864608"/>
            <a:ext cx="7315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5.7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" y="4864608"/>
            <a:ext cx="3474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Sistema Aprobado Despliegue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4864608"/>
            <a:ext cx="201168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Alejandro Dinamarca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92240" y="486460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5.6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486460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01-06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69680" y="4864608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01-06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4864608"/>
            <a:ext cx="128016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 h — HITO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5202936"/>
            <a:ext cx="7315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8.2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5840" y="5202936"/>
            <a:ext cx="3474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Cierre Formal del Proyecto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80560" y="5202936"/>
            <a:ext cx="201168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7F5000"/>
                </a:solidFill>
              </a:rPr>
              <a:t>Alejandro Dinamarca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5202936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8.1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80960" y="5202936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24-06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5202936"/>
            <a:ext cx="118872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24-06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58400" y="5202936"/>
            <a:ext cx="1280160" cy="338328"/>
          </a:xfrm>
          <a:prstGeom prst="rect">
            <a:avLst/>
          </a:prstGeom>
          <a:solidFill>
            <a:srgbClr val="FFF2CC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F5000"/>
                </a:solidFill>
              </a:rPr>
              <a:t>0 h — HITO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650992"/>
            <a:ext cx="228600" cy="182880"/>
          </a:xfrm>
          <a:prstGeom prst="rect">
            <a:avLst/>
          </a:prstGeom>
          <a:solidFill>
            <a:srgbClr val="2E75B6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65099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Fase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03120" y="5650992"/>
            <a:ext cx="2286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77439" y="565099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Actividad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5650992"/>
            <a:ext cx="228600" cy="182880"/>
          </a:xfrm>
          <a:prstGeom prst="rect">
            <a:avLst/>
          </a:prstGeom>
          <a:solidFill>
            <a:srgbClr val="FFF2CC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06240" y="565099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Hito (duración 0)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989320"/>
            <a:ext cx="1161288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6007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8 Fases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236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7ED"/>
                </a:solidFill>
              </a:rPr>
              <a:t>Planificación → Cierre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8920" y="6007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4 Hitos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88920" y="6236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7ED"/>
                </a:solidFill>
              </a:rPr>
              <a:t>EDT 2.3 · 3.5 · 5.7 · 8.2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20640" y="6007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41 Tareas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20640" y="6236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7ED"/>
                </a:solidFill>
              </a:rPr>
              <a:t>con responsable asignado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52359" y="6007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576 Horas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59" y="6236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7ED"/>
                </a:solidFill>
              </a:rPr>
              <a:t>esfuerzo total planificado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84080" y="60076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5 Integrantes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84080" y="6236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7ED"/>
                </a:solidFill>
              </a:rPr>
              <a:t>carga distribuida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Matriz de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7ED"/>
                </a:solidFill>
              </a:rPr>
              <a:t>12 riesgos identificados · Análisis PESTLE · Clasificación probabilidad × impacto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7ED"/>
                </a:solidFill>
              </a:rPr>
              <a:t>ICI-513 Gestión de Proyectos Informáticos · Universidad de Valparaíso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0A0"/>
                </a:solidFill>
              </a:rPr>
              <a:t>4 /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81328"/>
            <a:ext cx="3657600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08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MATRIZ 3×3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1481328"/>
            <a:ext cx="9144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481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P. Baja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481328"/>
            <a:ext cx="9144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1481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P. Media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481328"/>
            <a:ext cx="9144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481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P. 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28800"/>
            <a:ext cx="9144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I. Alto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1828800"/>
            <a:ext cx="914400" cy="6400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187451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1828800"/>
            <a:ext cx="914400" cy="6400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39" y="187451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R3,R4,R5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1828800"/>
            <a:ext cx="914400" cy="6400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39" y="187451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R1,R2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68880"/>
            <a:ext cx="9144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468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I. Medio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2468880"/>
            <a:ext cx="91440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25146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468880"/>
            <a:ext cx="914400" cy="6400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39" y="25146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R6,R7,
R8,R9,R11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468880"/>
            <a:ext cx="914400" cy="6400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39" y="25146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108960"/>
            <a:ext cx="9144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108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I. Bajo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3108960"/>
            <a:ext cx="91440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31546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108960"/>
            <a:ext cx="914400" cy="640080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39" y="31546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108960"/>
            <a:ext cx="914400" cy="6400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39" y="31546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767328"/>
            <a:ext cx="228600" cy="2011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767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Alto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3767328"/>
            <a:ext cx="228600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37673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Moderado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3767328"/>
            <a:ext cx="228600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37673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Bajo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1481328"/>
            <a:ext cx="7726679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1508760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RIESGOS DESTACADOS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1874519"/>
            <a:ext cx="7726679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60520" y="1874519"/>
            <a:ext cx="109728" cy="1463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43400" y="1947672"/>
            <a:ext cx="50292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1947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Scope Creep — Cambios de requisitos por el cliente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59" y="233172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74336" y="2350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PESTLE: Político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33172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2350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Tipo: Gestión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19" y="233172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3295" y="2350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P=A  I=A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01199" y="233172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37775" y="235000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4D4D"/>
                </a:solidFill>
              </a:rPr>
              <a:t>ALTO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59" y="2651760"/>
            <a:ext cx="6720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Mitigación: Formalizar control de cambios con acta firmada; cerrar alcance en fase de Análisis; reuniones de validación por hito.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3429000"/>
            <a:ext cx="7726679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60520" y="3429000"/>
            <a:ext cx="109728" cy="1463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43400" y="3502152"/>
            <a:ext cx="50292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43400" y="3502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59" y="3502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Pérdida o baja de un integrante del equipo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59" y="388620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74336" y="3904487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PESTLE: Social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388620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28816" y="3904487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Tipo: Organizacional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46719" y="388620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3295" y="3904487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P=M  I=A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199" y="388620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37775" y="3904487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4D4D"/>
                </a:solidFill>
              </a:rPr>
              <a:t>ALTO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59" y="4206240"/>
            <a:ext cx="6720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Mitigación: Documentar código en repositorio común; pair programming en módulos críticos; rotar responsabilidades.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60520" y="4983480"/>
            <a:ext cx="7726679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60520" y="4983480"/>
            <a:ext cx="109728" cy="1463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43400" y="5056632"/>
            <a:ext cx="50292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43400" y="50566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37759" y="5056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864"/>
                </a:solidFill>
              </a:rPr>
              <a:t>Pruebas acumuladas al final del desarrollo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37759" y="544068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54589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PESTLE: Tecnológico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544068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28816" y="54589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75B6"/>
                </a:solidFill>
              </a:rPr>
              <a:t>Tipo: Gestión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6719" y="544068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3295" y="54589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P=M  I=M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01199" y="5440680"/>
            <a:ext cx="1508760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37775" y="54589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</a:rPr>
              <a:t>MODERADO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59" y="5760720"/>
            <a:ext cx="6720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Mitigación: Planificar pruebas en paralelo (shift-left); definir casos desde el Análisis; asignar responsable QA.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5029200"/>
            <a:ext cx="365760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074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 riesgos
identificados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5669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000"/>
                </a:solidFill>
              </a:rPr>
              <a:t>7 Alto · 4 Moderado · 1 Bajo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" y="5989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DC3E6"/>
                </a:solidFill>
              </a:rPr>
              <a:t>Fuentes: Político · Económico · Social · Tecnológico · Legal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