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548640"/>
            <a:ext cx="10817352" cy="4114800"/>
          </a:xfrm>
          <a:prstGeom prst="rect">
            <a:avLst/>
          </a:prstGeom>
          <a:solidFill>
            <a:srgbClr val="14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548640"/>
            <a:ext cx="108173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💊  Consultorio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FD7ED"/>
                </a:solidFill>
              </a:rPr>
              <a:t>Sistema de Gestión de Horas Médicas — Salud Primaria Chile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514600"/>
            <a:ext cx="5760720" cy="36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DC3E6"/>
                </a:solidFill>
              </a:rPr>
              <a:t>Evaluación 2 — Cascada: UCP · Cronograma · Riesgos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Alejandro Dinamarca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Jefe de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0088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90088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Alexandra Carrasco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Analista / 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7216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7216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02936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Ricardo Silva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2936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Backend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4344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Lucas Rojas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4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Frontend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91472" y="3291840"/>
            <a:ext cx="20574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91472" y="3291840"/>
            <a:ext cx="2057400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7192" y="3364992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Allan Gálvez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7192" y="3822191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BFD7ED"/>
                </a:solidFill>
              </a:rPr>
              <a:t>DevOps / QA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DC3E6"/>
                </a:solidFill>
              </a:rPr>
              <a:t>ICI-513 Gestión de Proyectos Informáticos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983480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090B0"/>
                </a:solidFill>
              </a:rPr>
              <a:t>Ingeniería Civil en Informática · Universidad de Valparaíso · Mayo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Estimación Use Case Points (UCP)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FD7ED"/>
                </a:solidFill>
              </a:rPr>
              <a:t>Método de estimación basado en actores, casos de uso y factores de ajuste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FD7ED"/>
                </a:solidFill>
              </a:rPr>
              <a:t>ICI-513 Gestión de Proyectos Informáticos · Universidad de Valparaíso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2 /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356616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047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ACTORES  (AW = 13)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0512"/>
            <a:ext cx="14630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810512"/>
            <a:ext cx="86868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Tipo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40" y="1810512"/>
            <a:ext cx="50292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Peso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1810512"/>
            <a:ext cx="160020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Descripción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30552"/>
            <a:ext cx="1463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Paciente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2130552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130552"/>
            <a:ext cx="5029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2130552"/>
            <a:ext cx="1600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GUI — reserva y gestión de horas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41448"/>
            <a:ext cx="14630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Personal de Salud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7360" y="2441448"/>
            <a:ext cx="86868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40" y="2441448"/>
            <a:ext cx="50292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2441448"/>
            <a:ext cx="160020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GUI — agenda y atenciones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752344"/>
            <a:ext cx="1463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Administrador Sistema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2752344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06040" y="2752344"/>
            <a:ext cx="5029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2752344"/>
            <a:ext cx="1600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GUI — panel administrativo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063240"/>
            <a:ext cx="14630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Consultorio 1..N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3063240"/>
            <a:ext cx="86868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40" y="3063240"/>
            <a:ext cx="50292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3063240"/>
            <a:ext cx="160020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Interfaz flexible de disponibilidad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374136"/>
            <a:ext cx="14630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Sistema / API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7360" y="3374136"/>
            <a:ext cx="86868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Simple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06040" y="3374136"/>
            <a:ext cx="50292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08960" y="3374136"/>
            <a:ext cx="1600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Endpoints REST internos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3685032"/>
            <a:ext cx="14630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Base de Datos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37360" y="3685032"/>
            <a:ext cx="86868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Simple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3685032"/>
            <a:ext cx="50292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3685032"/>
            <a:ext cx="160020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ORM Django — interfaz definida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1463040"/>
            <a:ext cx="466344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06240" y="149047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CASOS DE USO  (UUCP = 165)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1810512"/>
            <a:ext cx="30632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Caso de Uso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1810512"/>
            <a:ext cx="10058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Tipo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1810512"/>
            <a:ext cx="54864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Pts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60520" y="2130552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UC01.1 Reservar Cita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23760" y="2130552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2130552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2441448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UC01.2 Confirmar/Cancelar Cita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223760" y="2441448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2441448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60520" y="2752344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UC01.5 Agendar Disponibilidad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60" y="2752344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2752344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60520" y="3063240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UC03.1 Buscar Centro Asistencial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23760" y="3063240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063240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3374136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UC05.1 Iniciar Sesión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23760" y="3374136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3374136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60520" y="3685032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UC05.3 Registrar Cuenta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23760" y="3685032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3685032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60520" y="3995928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UC06.2 Gestionar Centros y Citas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3995928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Complejo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3995928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4306824"/>
            <a:ext cx="30632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UC07  Configuración del Sistema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23760" y="4306824"/>
            <a:ext cx="10058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Promedio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4306824"/>
            <a:ext cx="548640" cy="310896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60520" y="4617720"/>
            <a:ext cx="3063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>
                <a:solidFill>
                  <a:srgbClr val="404040"/>
                </a:solidFill>
              </a:rPr>
              <a:t>… +9 casos de uso adicionales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23760" y="4617720"/>
            <a:ext cx="10058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0" y="4617720"/>
            <a:ext cx="5486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>
                <a:solidFill>
                  <a:srgbClr val="404040"/>
                </a:solidFill>
              </a:rPr>
              <a:t>65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52560" y="1463040"/>
            <a:ext cx="283464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98280" y="149047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FACTORES DE AJUSTE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52560" y="1810512"/>
            <a:ext cx="283464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98280" y="1828800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Factor Técnico (TCF = 0.96)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052560" y="2084831"/>
            <a:ext cx="2834640" cy="594360"/>
          </a:xfrm>
          <a:prstGeom prst="rect">
            <a:avLst/>
          </a:prstGeom>
          <a:solidFill>
            <a:srgbClr val="DEEAF1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98280" y="21031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T11 Seguridad personalizada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064240" y="21031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75B6"/>
                </a:solidFill>
              </a:rPr>
              <a:t>4/5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98280" y="2340863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JWT + RBAC + Ley 19.628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52560" y="2724911"/>
            <a:ext cx="2834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98280" y="274319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T3  Eficiencia usuario final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64240" y="274319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75B6"/>
                </a:solidFill>
              </a:rPr>
              <a:t>4/5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98280" y="298094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Acceso adultos mayores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52560" y="3364991"/>
            <a:ext cx="2834640" cy="594360"/>
          </a:xfrm>
          <a:prstGeom prst="rect">
            <a:avLst/>
          </a:prstGeom>
          <a:solidFill>
            <a:srgbClr val="DEEAF1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098280" y="338327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T1  Sistema distribuido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64240" y="338327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75B6"/>
                </a:solidFill>
              </a:rPr>
              <a:t>1/5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98280" y="362102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Django monolítico; sin microservicios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052560" y="4005072"/>
            <a:ext cx="2834640" cy="27432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098280" y="4023359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Factor Ambiental (EF = 1.275)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052560" y="4279392"/>
            <a:ext cx="2834640" cy="548640"/>
          </a:xfrm>
          <a:prstGeom prst="rect">
            <a:avLst/>
          </a:prstGeom>
          <a:solidFill>
            <a:srgbClr val="E2F0D9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98280" y="4297679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E5  Motivación del equipo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064240" y="4297679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0AD47"/>
                </a:solidFill>
              </a:rPr>
              <a:t>4/5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98280" y="4526279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Proyecto real en salud pública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052560" y="4873752"/>
            <a:ext cx="2834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098280" y="489204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</a:rPr>
              <a:t>E7  Personal part-time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6424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0AD47"/>
                </a:solidFill>
              </a:rPr>
              <a:t>3/5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98280" y="51206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Estudiantes con carga académica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5029200"/>
            <a:ext cx="8503920" cy="1143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74320" y="5029200"/>
            <a:ext cx="54864" cy="1143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0" y="5074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RESULTADO FINAL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0" y="53949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UCP = (UUCP + AW) × TCF × EF = (165 + 13) × 0.96 × 1.275 = 217,87 puntos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2920" y="57790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FD7ED"/>
                </a:solidFill>
              </a:rPr>
              <a:t>Horas estimadas de esfuerzo = 217,87 × 28 h/UCP =  6.100 horas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61120" y="5029200"/>
            <a:ext cx="2926080" cy="1143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006840" y="5047488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F3864"/>
                </a:solidFill>
              </a:rPr>
              <a:t>217.87
UCP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Cronograma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FD7ED"/>
                </a:solidFill>
              </a:rPr>
              <a:t>Fecha base: 10-03-2026 · Metodología Cascada · 8 fases · 4 hitos · 552 horas totales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FD7ED"/>
                </a:solidFill>
              </a:rPr>
              <a:t>ICI-513 Gestión de Proyectos Informáticos · Universidad de Valparaíso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3 /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1161288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047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ACTIVIDADES Y HITOS REPRESENTATIVOS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810512"/>
            <a:ext cx="7315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N° EDT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1810512"/>
            <a:ext cx="3474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Nombre de Tarea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810512"/>
            <a:ext cx="20116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Responsable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1810512"/>
            <a:ext cx="1188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Dependencia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1810512"/>
            <a:ext cx="1188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Inicio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810512"/>
            <a:ext cx="118872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Término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0" y="1810512"/>
            <a:ext cx="128016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Duración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157984"/>
            <a:ext cx="7315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2157984"/>
            <a:ext cx="3474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>INICIO / PLANIFICACIÓN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157984"/>
            <a:ext cx="201168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157984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2157984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10-03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2157984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17-03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2157984"/>
            <a:ext cx="128016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24 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496312"/>
            <a:ext cx="7315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2496312"/>
            <a:ext cx="3474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Estudio de Factibilidad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496312"/>
            <a:ext cx="201168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Alejandro Dinamarca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496312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2496312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10-03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69680" y="2496312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11-03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0" y="2496312"/>
            <a:ext cx="128016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8 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834640"/>
            <a:ext cx="7315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2834640"/>
            <a:ext cx="3474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Planificación del Proyecto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2834640"/>
            <a:ext cx="2011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Ricardo Silva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2834640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2834640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14-03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2834640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15-03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0" y="2834640"/>
            <a:ext cx="12801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8 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172968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" y="3172968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Análisis Reqs. Completado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60" y="3172968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17296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80960" y="317296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22-03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69680" y="317296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22-03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58400" y="3172968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511296"/>
            <a:ext cx="7315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5840" y="3511296"/>
            <a:ext cx="3474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>DESARROLLO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80560" y="3511296"/>
            <a:ext cx="201168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511296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7680960" y="3511296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30-03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0" y="3511296"/>
            <a:ext cx="118872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11-04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058400" y="3511296"/>
            <a:ext cx="1280160" cy="338328"/>
          </a:xfrm>
          <a:prstGeom prst="rect">
            <a:avLst/>
          </a:prstGeom>
          <a:solidFill>
            <a:srgbClr val="2E75B6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88 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3849624"/>
            <a:ext cx="7315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5840" y="3849624"/>
            <a:ext cx="3474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Desarrollo Backend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80560" y="3849624"/>
            <a:ext cx="201168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Ricardo Silva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3849624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80960" y="3849624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07-04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3849624"/>
            <a:ext cx="118872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13-04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0" y="3849624"/>
            <a:ext cx="1280160" cy="338328"/>
          </a:xfrm>
          <a:prstGeom prst="rect">
            <a:avLst/>
          </a:prstGeom>
          <a:solidFill>
            <a:srgbClr val="F0F5FA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24 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187952"/>
            <a:ext cx="7315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5840" y="4187952"/>
            <a:ext cx="3474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Integración Frontend-Backend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0" y="4187952"/>
            <a:ext cx="201168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50" b="0">
                <a:solidFill>
                  <a:srgbClr val="404040"/>
                </a:solidFill>
              </a:rPr>
              <a:t>Lucas Rojas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4187952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4.6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4187952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13-04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869680" y="4187952"/>
            <a:ext cx="118872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15-04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058400" y="4187952"/>
            <a:ext cx="128016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0">
                <a:solidFill>
                  <a:srgbClr val="404040"/>
                </a:solidFill>
              </a:rPr>
              <a:t>8 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526280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3.5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5840" y="4526280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Diseño Completado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80560" y="4526280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92240" y="4526280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3.4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80960" y="4526280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29-03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69680" y="4526280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29-03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058400" y="4526280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4864608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5.7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" y="4864608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Sistema Aprobado Despliegue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4864608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92240" y="486460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5.6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680960" y="486460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69680" y="4864608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4864608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" y="5202936"/>
            <a:ext cx="7315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8.2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5840" y="5202936"/>
            <a:ext cx="3474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⬛ Cierre Formal del Proyecto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80560" y="5202936"/>
            <a:ext cx="201168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900" b="1">
                <a:solidFill>
                  <a:srgbClr val="7F5000"/>
                </a:solidFill>
              </a:rPr>
              <a:t>Alejandro Dinamarca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92240" y="5202936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8.1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680960" y="5202936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869680" y="5202936"/>
            <a:ext cx="118872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27-05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058400" y="5202936"/>
            <a:ext cx="1280160" cy="338328"/>
          </a:xfrm>
          <a:prstGeom prst="rect">
            <a:avLst/>
          </a:prstGeom>
          <a:solidFill>
            <a:srgbClr val="FFF2CC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7F5000"/>
                </a:solidFill>
              </a:rPr>
              <a:t>0 h — HITO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5632704"/>
            <a:ext cx="256032" cy="201168"/>
          </a:xfrm>
          <a:prstGeom prst="rect">
            <a:avLst/>
          </a:prstGeom>
          <a:solidFill>
            <a:srgbClr val="2E75B6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563270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Fase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650992"/>
            <a:ext cx="228600" cy="182880"/>
          </a:xfrm>
          <a:prstGeom prst="rect">
            <a:avLst/>
          </a:prstGeom>
          <a:solidFill>
            <a:srgbClr val="2E75B6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640" y="5650992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Fase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03120" y="5650992"/>
            <a:ext cx="22860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77439" y="5650992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Actividad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931920" y="5650992"/>
            <a:ext cx="228600" cy="182880"/>
          </a:xfrm>
          <a:prstGeom prst="rect">
            <a:avLst/>
          </a:prstGeom>
          <a:solidFill>
            <a:srgbClr val="FFF2CC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06240" y="5650992"/>
            <a:ext cx="12801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Hito (duración 0)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989320"/>
            <a:ext cx="1161288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8 Fases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720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Planificación → Cierre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8892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4 Hitos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EDT 2.3 · 3.5 · 5.7 · 8.2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2064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41 Tareas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con responsable asignado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2359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552 Horas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52359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esfuerzo total planificado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784080" y="600760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</a:rPr>
              <a:t>5 Integrantes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784080" y="6236208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FD7ED"/>
                </a:solidFill>
              </a:rPr>
              <a:t>carga distribuida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Matriz de Riesgos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FD7ED"/>
                </a:solidFill>
              </a:rPr>
              <a:t>12 riesgos identificados · Análisis PESTLE · Clasificación probabilidad × impacto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FD7ED"/>
                </a:solidFill>
              </a:rPr>
              <a:t>ICI-513 Gestión de Proyectos Informáticos · Universidad de Valparaíso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</a:rPr>
              <a:t>4 /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81328"/>
            <a:ext cx="3657600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0876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MATRIZ 3×3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481328"/>
            <a:ext cx="9144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1481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P. Baja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1481328"/>
            <a:ext cx="9144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1481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P. 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481328"/>
            <a:ext cx="9144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4813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P. Alta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9144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18288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I. Alto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1828800"/>
            <a:ext cx="914400" cy="640080"/>
          </a:xfrm>
          <a:prstGeom prst="rect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187451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1828800"/>
            <a:ext cx="914400" cy="640080"/>
          </a:xfrm>
          <a:prstGeom prst="rect">
            <a:avLst/>
          </a:prstGeom>
          <a:solidFill>
            <a:srgbClr val="FF4D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48839" y="187451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R3,R4,R5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1828800"/>
            <a:ext cx="914400" cy="640080"/>
          </a:xfrm>
          <a:prstGeom prst="rect">
            <a:avLst/>
          </a:prstGeom>
          <a:solidFill>
            <a:srgbClr val="FF4D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39" y="187451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R1,R2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468880"/>
            <a:ext cx="9144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4688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I. Medio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2468880"/>
            <a:ext cx="914400" cy="640080"/>
          </a:xfrm>
          <a:prstGeom prst="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25146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03120" y="2468880"/>
            <a:ext cx="914400" cy="640080"/>
          </a:xfrm>
          <a:prstGeom prst="rect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39" y="25146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R6,R7,
R8,R9,R11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468880"/>
            <a:ext cx="914400" cy="640080"/>
          </a:xfrm>
          <a:prstGeom prst="rect">
            <a:avLst/>
          </a:prstGeom>
          <a:solidFill>
            <a:srgbClr val="FF4D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3239" y="25146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108960"/>
            <a:ext cx="9144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31089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I. Bajo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3108960"/>
            <a:ext cx="914400" cy="640080"/>
          </a:xfrm>
          <a:prstGeom prst="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315467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03120" y="3108960"/>
            <a:ext cx="914400" cy="640080"/>
          </a:xfrm>
          <a:prstGeom prst="rect">
            <a:avLst/>
          </a:prstGeom>
          <a:solidFill>
            <a:srgbClr val="70AD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48839" y="315467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08960"/>
            <a:ext cx="914400" cy="640080"/>
          </a:xfrm>
          <a:prstGeom prst="rect">
            <a:avLst/>
          </a:prstGeom>
          <a:solidFill>
            <a:srgbClr val="FFC00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63239" y="3154679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767328"/>
            <a:ext cx="228600" cy="201168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7673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Alto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7280" y="3767328"/>
            <a:ext cx="228600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376732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Moderado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03120" y="3767328"/>
            <a:ext cx="228600" cy="20116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37673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04040"/>
                </a:solidFill>
              </a:rPr>
              <a:t>Bajo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1481328"/>
            <a:ext cx="7726679" cy="3200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0" y="1508760"/>
            <a:ext cx="7635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RIESGOS DESTACADOS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1874519"/>
            <a:ext cx="772667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60520" y="1874519"/>
            <a:ext cx="109728" cy="1463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43400" y="1947672"/>
            <a:ext cx="502920" cy="320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43400" y="194767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59" y="194767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</a:rPr>
              <a:t>Scope Creep — Cambios de requisitos por el cliente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37759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74336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PESTLE: Político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28816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Tipo: Gestión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46719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83295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P=A  I=A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01199" y="233172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37775" y="23500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4D4D"/>
                </a:solidFill>
              </a:rPr>
              <a:t>ALTO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59" y="2651760"/>
            <a:ext cx="6720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</a:rPr>
              <a:t>Mitigación: Formalizar control de cambios con acta firmada; cerrar alcance en fase de Análisis; reuniones de validación por hito.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3429000"/>
            <a:ext cx="772667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60520" y="3429000"/>
            <a:ext cx="109728" cy="1463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43400" y="3502152"/>
            <a:ext cx="502920" cy="32004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43400" y="350215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37759" y="35021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</a:rPr>
              <a:t>Pérdida o baja de un integrante del equipo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37759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74336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PESTLE: Social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92240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28816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Tipo: Organizacional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046719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83295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P=M  I=A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01199" y="388620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37775" y="3904487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4D4D"/>
                </a:solidFill>
              </a:rPr>
              <a:t>ALTO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37759" y="4206240"/>
            <a:ext cx="6720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</a:rPr>
              <a:t>Mitigación: Documentar código en repositorio común; pair programming en módulos críticos; rotar responsabilidades.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60520" y="4983480"/>
            <a:ext cx="7726679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60520" y="4983480"/>
            <a:ext cx="109728" cy="1463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343400" y="5056632"/>
            <a:ext cx="502920" cy="3200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343400" y="505663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37759" y="505663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</a:rPr>
              <a:t>Pruebas acumuladas al final del desarrollo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37759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74336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PESTLE: Tecnológico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92240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28816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E75B6"/>
                </a:solidFill>
              </a:rPr>
              <a:t>Tipo: Gestión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46719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083295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404040"/>
                </a:solidFill>
              </a:rPr>
              <a:t>P=M  I=M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601199" y="5440680"/>
            <a:ext cx="1508760" cy="256032"/>
          </a:xfrm>
          <a:prstGeom prst="rect">
            <a:avLst/>
          </a:prstGeom>
          <a:solidFill>
            <a:srgbClr val="F2F2F2"/>
          </a:solidFill>
          <a:ln w="6350"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637775" y="545896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C000"/>
                </a:solidFill>
              </a:rPr>
              <a:t>MODERADO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37759" y="5760720"/>
            <a:ext cx="6720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04040"/>
                </a:solidFill>
              </a:rPr>
              <a:t>Mitigación: Planificar pruebas en paralelo (shift-left); definir casos desde el Análisis; asignar responsable QA.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5029200"/>
            <a:ext cx="3657600" cy="13716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20040" y="507492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12 riesgos
identificados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0040" y="566928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C000"/>
                </a:solidFill>
              </a:rPr>
              <a:t>7 Alto · 4 Moderado · 1 Bajo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040" y="59893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DC3E6"/>
                </a:solidFill>
              </a:rPr>
              <a:t>Fuentes: Político · Económico · Social · Tecnológico · Legal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